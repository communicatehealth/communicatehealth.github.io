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05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63" r:id="rId4"/>
    <p:sldId id="264" r:id="rId5"/>
    <p:sldId id="285" r:id="rId6"/>
    <p:sldId id="282" r:id="rId7"/>
    <p:sldId id="260" r:id="rId8"/>
    <p:sldId id="261" r:id="rId9"/>
    <p:sldId id="269" r:id="rId10"/>
    <p:sldId id="279" r:id="rId11"/>
    <p:sldId id="284" r:id="rId12"/>
    <p:sldId id="286" r:id="rId13"/>
    <p:sldId id="265" r:id="rId14"/>
    <p:sldId id="266" r:id="rId15"/>
    <p:sldId id="270" r:id="rId16"/>
    <p:sldId id="277" r:id="rId17"/>
    <p:sldId id="271" r:id="rId18"/>
    <p:sldId id="268" r:id="rId19"/>
    <p:sldId id="274" r:id="rId20"/>
    <p:sldId id="275" r:id="rId21"/>
    <p:sldId id="276" r:id="rId22"/>
    <p:sldId id="267" r:id="rId23"/>
    <p:sldId id="272" r:id="rId24"/>
    <p:sldId id="273" r:id="rId25"/>
    <p:sldId id="287" r:id="rId26"/>
    <p:sldId id="288" r:id="rId2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 scaleToFitPaper="1"/>
  <p:clrMru>
    <a:srgbClr val="F07521"/>
    <a:srgbClr val="7AC242"/>
    <a:srgbClr val="009D9E"/>
    <a:srgbClr val="7AC143"/>
    <a:srgbClr val="588C2B"/>
    <a:srgbClr val="1FB7D9"/>
    <a:srgbClr val="FF0794"/>
    <a:srgbClr val="A40AFF"/>
    <a:srgbClr val="2651FF"/>
    <a:srgbClr val="25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1" autoAdjust="0"/>
    <p:restoredTop sz="86441" autoAdjust="0"/>
  </p:normalViewPr>
  <p:slideViewPr>
    <p:cSldViewPr snapToGrid="0" snapToObjects="1">
      <p:cViewPr varScale="1">
        <p:scale>
          <a:sx n="130" d="100"/>
          <a:sy n="130" d="100"/>
        </p:scale>
        <p:origin x="192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0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23FE2EC-CC89-A940-9949-AABD2454BC71}" type="datetimeFigureOut">
              <a:rPr lang="en-US"/>
              <a:pPr>
                <a:defRPr/>
              </a:pPr>
              <a:t>7/10/17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766885F-6D13-3743-846E-327A771DDD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30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9E6E280-95F0-A74B-B18D-DB075DCDDB94}" type="datetime1">
              <a:rPr lang="en-US"/>
              <a:pPr>
                <a:defRPr/>
              </a:pPr>
              <a:t>7/10/17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17F0ED6-1E1C-644E-B48D-72E121E21C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896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7F0ED6-1E1C-644E-B48D-72E121E21C9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35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7F0ED6-1E1C-644E-B48D-72E121E21C9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68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7F0ED6-1E1C-644E-B48D-72E121E21C9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66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Pilot Light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At the DNS level, there should be a health check on the application load balancer. Failure of the health checks should redirect traffic to a highly available static site on an independent network.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Application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application needs to be highly available and highly performant. To be highly available, the application needs to be auto-balanced between application servers in separate locations on separate networks. To be highly performant, the application servers must either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autoscale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 or be provisioned to handle the application at peak traffic.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application runs on a LAMP stack and the codebase is managed in a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git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 repository.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Database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database needs to be highly available and highly performant. Read replicas should either be automatically instantiated or pre-provisioned to satisfy the needs of the application at peak traffic. 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database must be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mySQL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 compatible. 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CDN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application’s static assets (images, videos, pdfs, etc.) should be hosted separately from the application, preferably on a highly available CDN.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Caching proxy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network should be set up to allow a caching proxy.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7F0ED6-1E1C-644E-B48D-72E121E21C9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70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Pilot Light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At the DNS level, there should be a health check on the application load balancer. Failure of the health checks should redirect traffic to a highly available static site on an independent network.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Application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application needs to be highly available and highly performant. To be highly available, the application needs to be auto-balanced between application servers in separate locations on separate networks. To be highly performant, the application servers must either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autoscale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 or be provisioned to handle the application at peak traffic.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application runs on a LAMP stack and the codebase is managed in a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git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 repository.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Database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database needs to be highly available and highly performant. Read replicas should either be automatically instantiated or pre-provisioned to satisfy the needs of the application at peak traffic. 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database must be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mySQL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 compatible. 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CDN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application’s static assets (images, videos, pdfs, etc.) should be hosted separately from the application, preferably on a highly available CDN.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Caching proxy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</a:b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ＭＳ Ｐゴシック" charset="-128"/>
              <a:cs typeface="ＭＳ Ｐゴシック" charset="-128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-128"/>
                <a:cs typeface="ＭＳ Ｐゴシック" charset="-128"/>
              </a:rPr>
              <a:t>The network should be set up to allow a caching proxy.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7F0ED6-1E1C-644E-B48D-72E121E21C9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1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gif"/><Relationship Id="rId3" Type="http://schemas.openxmlformats.org/officeDocument/2006/relationships/image" Target="../media/image9.jp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gif"/><Relationship Id="rId3" Type="http://schemas.openxmlformats.org/officeDocument/2006/relationships/image" Target="../media/image9.jp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gif"/><Relationship Id="rId3" Type="http://schemas.openxmlformats.org/officeDocument/2006/relationships/image" Target="../media/image9.jp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gif"/><Relationship Id="rId3" Type="http://schemas.openxmlformats.org/officeDocument/2006/relationships/image" Target="../media/image9.jp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gif"/><Relationship Id="rId3" Type="http://schemas.openxmlformats.org/officeDocument/2006/relationships/image" Target="../media/image9.jp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995938"/>
            <a:ext cx="9144000" cy="862061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Triangle 2"/>
          <p:cNvSpPr/>
          <p:nvPr userDrawn="1"/>
        </p:nvSpPr>
        <p:spPr>
          <a:xfrm rot="10800000">
            <a:off x="7299806" y="5847083"/>
            <a:ext cx="577273" cy="440011"/>
          </a:xfrm>
          <a:prstGeom prst="rt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14400" y="1053172"/>
            <a:ext cx="8229600" cy="700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800" b="0" i="0" baseline="0">
                <a:solidFill>
                  <a:schemeClr val="tx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1165684" y="2943937"/>
            <a:ext cx="7078662" cy="2589212"/>
          </a:xfrm>
        </p:spPr>
        <p:txBody>
          <a:bodyPr/>
          <a:lstStyle>
            <a:lvl1pPr indent="-320040">
              <a:defRPr sz="2400">
                <a:latin typeface="Proxima Nova Medium"/>
                <a:cs typeface="Proxima Nova Medium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913992" y="1821427"/>
            <a:ext cx="7404100" cy="79851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D9E"/>
              </a:solidFill>
              <a:effectLst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pic>
        <p:nvPicPr>
          <p:cNvPr id="12" name="Picture 11" descr="CH_Logo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818" y="6105574"/>
            <a:ext cx="2586182" cy="6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37296" y="150092"/>
            <a:ext cx="8896865" cy="656761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7200" y="22984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9" name="Picture 18" descr="Untitled-1_0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453" y="5987060"/>
            <a:ext cx="685800" cy="6858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5867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37296" y="184728"/>
            <a:ext cx="8896865" cy="653297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pic>
        <p:nvPicPr>
          <p:cNvPr id="2" name="Picture 1" descr="Untitled-1_0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611" y="6021696"/>
            <a:ext cx="685800" cy="685800"/>
          </a:xfrm>
          <a:prstGeom prst="rect">
            <a:avLst/>
          </a:prstGeom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7200" y="22984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75231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37295" y="184727"/>
            <a:ext cx="8896865" cy="6532973"/>
          </a:xfrm>
          <a:prstGeom prst="rect">
            <a:avLst/>
          </a:prstGeom>
          <a:solidFill>
            <a:srgbClr val="009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pic>
        <p:nvPicPr>
          <p:cNvPr id="3" name="Picture 2" descr="Untitled-1_1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385" y="6012847"/>
            <a:ext cx="685800" cy="685800"/>
          </a:xfrm>
          <a:prstGeom prst="rect">
            <a:avLst/>
          </a:prstGeom>
        </p:spPr>
      </p:pic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57200" y="22984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924877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37294" y="150092"/>
            <a:ext cx="8896865" cy="6567608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0" y="6029779"/>
            <a:ext cx="685800" cy="685800"/>
          </a:xfrm>
          <a:prstGeom prst="rect">
            <a:avLst/>
          </a:prstGeom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7200" y="22984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0111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37293" y="138546"/>
            <a:ext cx="8896865" cy="657229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0" y="6025036"/>
            <a:ext cx="685800" cy="685800"/>
          </a:xfrm>
          <a:prstGeom prst="rect">
            <a:avLst/>
          </a:prstGeom>
        </p:spPr>
      </p:pic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57200" y="22984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364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835140"/>
            <a:ext cx="9144000" cy="45720"/>
          </a:xfrm>
          <a:prstGeom prst="rect">
            <a:avLst/>
          </a:prstGeom>
          <a:solidFill>
            <a:srgbClr val="FC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3260725"/>
          </a:xfrm>
        </p:spPr>
        <p:txBody>
          <a:bodyPr>
            <a:normAutofit/>
          </a:bodyPr>
          <a:lstStyle>
            <a:lvl1pPr marL="342900" indent="-411480">
              <a:lnSpc>
                <a:spcPct val="110000"/>
              </a:lnSpc>
              <a:buSzPct val="100000"/>
              <a:buFontTx/>
              <a:buBlip>
                <a:blip r:embed="rId2"/>
              </a:buBlip>
              <a:defRPr sz="3200"/>
            </a:lvl1pPr>
            <a:lvl2pPr marL="742950" indent="-285750">
              <a:lnSpc>
                <a:spcPct val="120000"/>
              </a:lnSpc>
              <a:buSzPct val="100000"/>
              <a:buFont typeface="Wingdings" charset="2"/>
              <a:buChar char="§"/>
              <a:defRPr sz="32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pic>
        <p:nvPicPr>
          <p:cNvPr id="12" name="Picture 11" descr="ch_colors_03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-1660"/>
            <a:ext cx="9144000" cy="800100"/>
          </a:xfrm>
          <a:prstGeom prst="rect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67066" y="-20050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69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660"/>
            <a:ext cx="9144000" cy="800100"/>
          </a:xfrm>
          <a:prstGeom prst="rect">
            <a:avLst/>
          </a:prstGeom>
          <a:solidFill>
            <a:srgbClr val="7A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835140"/>
            <a:ext cx="9144000" cy="45720"/>
          </a:xfrm>
          <a:prstGeom prst="rect">
            <a:avLst/>
          </a:prstGeom>
          <a:solidFill>
            <a:srgbClr val="CDE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367066" y="-20050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3260725"/>
          </a:xfrm>
        </p:spPr>
        <p:txBody>
          <a:bodyPr>
            <a:normAutofit/>
          </a:bodyPr>
          <a:lstStyle>
            <a:lvl1pPr marL="342900" indent="-411480">
              <a:lnSpc>
                <a:spcPct val="110000"/>
              </a:lnSpc>
              <a:buSzPct val="100000"/>
              <a:buFontTx/>
              <a:buBlip>
                <a:blip r:embed="rId2"/>
              </a:buBlip>
              <a:defRPr sz="3200"/>
            </a:lvl1pPr>
            <a:lvl2pPr marL="742950" indent="-285750">
              <a:lnSpc>
                <a:spcPct val="120000"/>
              </a:lnSpc>
              <a:buSzPct val="100000"/>
              <a:buFont typeface="Wingdings" charset="2"/>
              <a:buChar char="§"/>
              <a:defRPr sz="32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pic>
        <p:nvPicPr>
          <p:cNvPr id="7" name="Picture 6" descr="ch_colors_03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061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-1660"/>
            <a:ext cx="9144000" cy="800100"/>
          </a:xfrm>
          <a:prstGeom prst="rect">
            <a:avLst/>
          </a:prstGeom>
          <a:solidFill>
            <a:srgbClr val="009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835140"/>
            <a:ext cx="9144000" cy="45720"/>
          </a:xfrm>
          <a:prstGeom prst="rect">
            <a:avLst/>
          </a:prstGeom>
          <a:solidFill>
            <a:srgbClr val="D0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367066" y="-200504"/>
            <a:ext cx="84258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3260725"/>
          </a:xfrm>
        </p:spPr>
        <p:txBody>
          <a:bodyPr>
            <a:normAutofit/>
          </a:bodyPr>
          <a:lstStyle>
            <a:lvl1pPr marL="342900" indent="-411480">
              <a:lnSpc>
                <a:spcPct val="110000"/>
              </a:lnSpc>
              <a:buSzPct val="100000"/>
              <a:buFontTx/>
              <a:buBlip>
                <a:blip r:embed="rId2"/>
              </a:buBlip>
              <a:defRPr sz="3200"/>
            </a:lvl1pPr>
            <a:lvl2pPr marL="742950" indent="-285750">
              <a:lnSpc>
                <a:spcPct val="120000"/>
              </a:lnSpc>
              <a:buSzPct val="100000"/>
              <a:buFont typeface="Wingdings" charset="2"/>
              <a:buChar char="§"/>
              <a:defRPr sz="32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pic>
        <p:nvPicPr>
          <p:cNvPr id="7" name="Picture 6" descr="ch_colors_03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241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660"/>
            <a:ext cx="9144000" cy="80010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835140"/>
            <a:ext cx="9144000" cy="45720"/>
          </a:xfrm>
          <a:prstGeom prst="rect">
            <a:avLst/>
          </a:prstGeom>
          <a:solidFill>
            <a:srgbClr val="E4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21" name="Title Placeholder 1"/>
          <p:cNvSpPr>
            <a:spLocks noGrp="1"/>
          </p:cNvSpPr>
          <p:nvPr>
            <p:ph type="title"/>
          </p:nvPr>
        </p:nvSpPr>
        <p:spPr>
          <a:xfrm>
            <a:off x="367066" y="-20050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3260725"/>
          </a:xfrm>
        </p:spPr>
        <p:txBody>
          <a:bodyPr>
            <a:normAutofit/>
          </a:bodyPr>
          <a:lstStyle>
            <a:lvl1pPr marL="342900" indent="-411480">
              <a:lnSpc>
                <a:spcPct val="110000"/>
              </a:lnSpc>
              <a:buSzPct val="100000"/>
              <a:buFontTx/>
              <a:buBlip>
                <a:blip r:embed="rId2"/>
              </a:buBlip>
              <a:defRPr sz="3200"/>
            </a:lvl1pPr>
            <a:lvl2pPr marL="742950" indent="-285750">
              <a:lnSpc>
                <a:spcPct val="120000"/>
              </a:lnSpc>
              <a:buSzPct val="100000"/>
              <a:buFont typeface="Wingdings" charset="2"/>
              <a:buChar char="§"/>
              <a:defRPr sz="32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pic>
        <p:nvPicPr>
          <p:cNvPr id="7" name="Picture 6" descr="ch_colors_03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405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-1660"/>
            <a:ext cx="9144000" cy="8001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835140"/>
            <a:ext cx="9144000" cy="4572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67066" y="-20050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3260725"/>
          </a:xfrm>
        </p:spPr>
        <p:txBody>
          <a:bodyPr>
            <a:normAutofit/>
          </a:bodyPr>
          <a:lstStyle>
            <a:lvl1pPr marL="342900" indent="-411480">
              <a:lnSpc>
                <a:spcPct val="110000"/>
              </a:lnSpc>
              <a:buSzPct val="100000"/>
              <a:buFontTx/>
              <a:buBlip>
                <a:blip r:embed="rId2"/>
              </a:buBlip>
              <a:defRPr sz="3200"/>
            </a:lvl1pPr>
            <a:lvl2pPr marL="742950" indent="-285750">
              <a:lnSpc>
                <a:spcPct val="120000"/>
              </a:lnSpc>
              <a:buSzPct val="100000"/>
              <a:buFont typeface="Wingdings" charset="2"/>
              <a:buChar char="§"/>
              <a:defRPr sz="32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pic>
        <p:nvPicPr>
          <p:cNvPr id="7" name="Picture 6" descr="ch_colors_03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698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57200" y="22984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pic>
        <p:nvPicPr>
          <p:cNvPr id="10" name="Picture 9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6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7200" y="229844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pic>
        <p:nvPicPr>
          <p:cNvPr id="8" name="Picture 7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60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828800" y="4666837"/>
            <a:ext cx="5486400" cy="1143001"/>
          </a:xfrm>
          <a:prstGeom prst="rect">
            <a:avLst/>
          </a:prstGeom>
          <a:solidFill>
            <a:srgbClr val="D0F1EF">
              <a:alpha val="1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28800" y="837171"/>
            <a:ext cx="5486400" cy="365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056581" y="4776018"/>
            <a:ext cx="5022646" cy="9539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>
              <a:lnSpc>
                <a:spcPct val="100000"/>
              </a:lnSpc>
              <a:spcAft>
                <a:spcPts val="600"/>
              </a:spcAft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Caption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pic>
        <p:nvPicPr>
          <p:cNvPr id="15" name="Picture 14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136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83379" y="1146567"/>
            <a:ext cx="3295445" cy="4114800"/>
          </a:xfrm>
          <a:prstGeom prst="rect">
            <a:avLst/>
          </a:prstGeom>
          <a:solidFill>
            <a:srgbClr val="D0F1EF">
              <a:alpha val="1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064003" y="1146567"/>
            <a:ext cx="45720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65234" y="1146567"/>
            <a:ext cx="2743202" cy="41147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ct val="100000"/>
              </a:lnSpc>
              <a:spcAft>
                <a:spcPts val="600"/>
              </a:spcAft>
              <a:defRPr sz="2100" b="0" i="0" baseline="0">
                <a:solidFill>
                  <a:schemeClr val="tx1"/>
                </a:solidFill>
                <a:latin typeface="Proxima Nova Regular"/>
                <a:cs typeface="Proxima Nova Regular"/>
              </a:defRPr>
            </a:lvl1pPr>
          </a:lstStyle>
          <a:p>
            <a:r>
              <a:rPr lang="en-US" dirty="0" smtClean="0"/>
              <a:t>Caption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pic>
        <p:nvPicPr>
          <p:cNvPr id="14" name="Picture 13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381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810559"/>
            <a:ext cx="9144000" cy="45720"/>
          </a:xfrm>
          <a:prstGeom prst="rect">
            <a:avLst/>
          </a:prstGeom>
          <a:solidFill>
            <a:srgbClr val="CDE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3682" y="1997227"/>
            <a:ext cx="1828800" cy="1600200"/>
          </a:xfrm>
          <a:prstGeom prst="rect">
            <a:avLst/>
          </a:prstGeom>
          <a:solidFill>
            <a:srgbClr val="009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3683" y="3662514"/>
            <a:ext cx="1828799" cy="81934"/>
          </a:xfrm>
          <a:prstGeom prst="rect">
            <a:avLst/>
          </a:prstGeom>
          <a:solidFill>
            <a:srgbClr val="D0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3999" cy="45720"/>
          </a:xfrm>
          <a:prstGeom prst="rect">
            <a:avLst/>
          </a:prstGeom>
          <a:solidFill>
            <a:srgbClr val="CDE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733714" y="2216507"/>
            <a:ext cx="59596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000" b="0" i="0">
                <a:solidFill>
                  <a:srgbClr val="000000"/>
                </a:solidFill>
                <a:latin typeface="Proxima Nova Medium"/>
                <a:cs typeface="Proxima Nova Medium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82117" y="1997226"/>
            <a:ext cx="1674813" cy="1423631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96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pic>
        <p:nvPicPr>
          <p:cNvPr id="10" name="Picture 9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83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810559"/>
            <a:ext cx="9144000" cy="45720"/>
          </a:xfrm>
          <a:prstGeom prst="rect">
            <a:avLst/>
          </a:prstGeom>
          <a:solidFill>
            <a:srgbClr val="E4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3682" y="1997227"/>
            <a:ext cx="1828800" cy="1600200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3683" y="3660514"/>
            <a:ext cx="1828799" cy="8193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3999" cy="45720"/>
          </a:xfrm>
          <a:prstGeom prst="rect">
            <a:avLst/>
          </a:prstGeom>
          <a:solidFill>
            <a:srgbClr val="E4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733714" y="2216507"/>
            <a:ext cx="59596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000" b="0" i="0">
                <a:solidFill>
                  <a:srgbClr val="000000"/>
                </a:solidFill>
                <a:latin typeface="Proxima Nova Medium"/>
                <a:cs typeface="Proxima Nova Medium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82117" y="1997226"/>
            <a:ext cx="1674813" cy="1423631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96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pic>
        <p:nvPicPr>
          <p:cNvPr id="11" name="Picture 10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82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810559"/>
            <a:ext cx="9144000" cy="45720"/>
          </a:xfrm>
          <a:prstGeom prst="rect">
            <a:avLst/>
          </a:prstGeom>
          <a:solidFill>
            <a:srgbClr val="FC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3682" y="1997227"/>
            <a:ext cx="1828800" cy="160020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3683" y="3670696"/>
            <a:ext cx="1828799" cy="81934"/>
          </a:xfrm>
          <a:prstGeom prst="rect">
            <a:avLst/>
          </a:prstGeom>
          <a:solidFill>
            <a:srgbClr val="AF9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3999" cy="45720"/>
          </a:xfrm>
          <a:prstGeom prst="rect">
            <a:avLst/>
          </a:prstGeom>
          <a:solidFill>
            <a:srgbClr val="FC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733714" y="2216507"/>
            <a:ext cx="59596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000" b="0" i="0">
                <a:solidFill>
                  <a:srgbClr val="000000"/>
                </a:solidFill>
                <a:latin typeface="Proxima Nova Medium"/>
                <a:cs typeface="Proxima Nova Medium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82117" y="1997226"/>
            <a:ext cx="1674813" cy="1423631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96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pic>
        <p:nvPicPr>
          <p:cNvPr id="11" name="Picture 10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93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810559"/>
            <a:ext cx="9144000" cy="45720"/>
          </a:xfrm>
          <a:prstGeom prst="rect">
            <a:avLst/>
          </a:prstGeom>
          <a:solidFill>
            <a:srgbClr val="D0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3682" y="1997227"/>
            <a:ext cx="1828800" cy="160020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3683" y="3670696"/>
            <a:ext cx="1828799" cy="81934"/>
          </a:xfrm>
          <a:prstGeom prst="rect">
            <a:avLst/>
          </a:prstGeom>
          <a:solidFill>
            <a:srgbClr val="CDE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3999" cy="45720"/>
          </a:xfrm>
          <a:prstGeom prst="rect">
            <a:avLst/>
          </a:prstGeom>
          <a:solidFill>
            <a:srgbClr val="D0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733714" y="2216507"/>
            <a:ext cx="59596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000" b="0" i="0">
                <a:solidFill>
                  <a:srgbClr val="000000"/>
                </a:solidFill>
                <a:latin typeface="Proxima Nova Medium"/>
                <a:cs typeface="Proxima Nova Medium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82117" y="1997226"/>
            <a:ext cx="1674813" cy="1423631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96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pic>
        <p:nvPicPr>
          <p:cNvPr id="11" name="Picture 10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4279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810559"/>
            <a:ext cx="9144000" cy="45720"/>
          </a:xfrm>
          <a:prstGeom prst="rect">
            <a:avLst/>
          </a:prstGeom>
          <a:solidFill>
            <a:srgbClr val="D0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93682" y="1997227"/>
            <a:ext cx="1828800" cy="16002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3683" y="3670696"/>
            <a:ext cx="1828799" cy="81934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3999" cy="45720"/>
          </a:xfrm>
          <a:prstGeom prst="rect">
            <a:avLst/>
          </a:prstGeom>
          <a:solidFill>
            <a:srgbClr val="D0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733714" y="2216507"/>
            <a:ext cx="59596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800" b="0" i="0">
                <a:solidFill>
                  <a:srgbClr val="000000"/>
                </a:solidFill>
                <a:latin typeface="Proxima Nova Medium"/>
                <a:cs typeface="Proxima Nova Medium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82117" y="1997226"/>
            <a:ext cx="1674813" cy="1423631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96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pic>
        <p:nvPicPr>
          <p:cNvPr id="11" name="Picture 10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417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6810559"/>
            <a:ext cx="9144000" cy="45720"/>
          </a:xfrm>
          <a:prstGeom prst="rect">
            <a:avLst/>
          </a:prstGeom>
          <a:solidFill>
            <a:srgbClr val="CDE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3936" y="1670445"/>
            <a:ext cx="1372030" cy="1200526"/>
          </a:xfrm>
          <a:prstGeom prst="rect">
            <a:avLst/>
          </a:prstGeom>
          <a:solidFill>
            <a:srgbClr val="009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43937" y="2931940"/>
            <a:ext cx="1372029" cy="61470"/>
          </a:xfrm>
          <a:prstGeom prst="rect">
            <a:avLst/>
          </a:prstGeom>
          <a:solidFill>
            <a:srgbClr val="D0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3999" cy="45720"/>
          </a:xfrm>
          <a:prstGeom prst="rect">
            <a:avLst/>
          </a:prstGeom>
          <a:solidFill>
            <a:srgbClr val="CDE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3936" y="3440252"/>
            <a:ext cx="1372030" cy="12005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3937" y="4701747"/>
            <a:ext cx="1372029" cy="6147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76B74A"/>
                </a:solidFill>
                <a:effectLst/>
              </a:rPr>
              <a:t> </a:t>
            </a:r>
            <a:endParaRPr lang="en-US" dirty="0">
              <a:solidFill>
                <a:srgbClr val="76B74A"/>
              </a:solidFill>
              <a:effectLst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733714" y="1671011"/>
            <a:ext cx="595964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000" b="0" i="0">
                <a:solidFill>
                  <a:srgbClr val="000000"/>
                </a:solidFill>
                <a:latin typeface="Proxima Nova Medium"/>
                <a:cs typeface="Proxima Nova Medium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43937" y="1589548"/>
            <a:ext cx="1372030" cy="128142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80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843937" y="3359355"/>
            <a:ext cx="1372030" cy="128142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80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736641" y="3382894"/>
            <a:ext cx="5899355" cy="135427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000">
                <a:latin typeface="Proxima Nova Medium"/>
                <a:cs typeface="Proxima Nova Medium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2" name="Picture 11" descr="ch_colors_03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8"/>
          <a:stretch/>
        </p:blipFill>
        <p:spPr>
          <a:xfrm>
            <a:off x="152691" y="6151518"/>
            <a:ext cx="543568" cy="564328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6854825" y="6356350"/>
            <a:ext cx="2133600" cy="365125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oxima Nova Regular"/>
                <a:cs typeface="Proxima Nova Regular"/>
              </a:defRPr>
            </a:lvl1pPr>
          </a:lstStyle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746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154526" y="1921535"/>
            <a:ext cx="5959641" cy="1904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5500" b="0" i="0">
                <a:solidFill>
                  <a:srgbClr val="000000"/>
                </a:solidFill>
                <a:latin typeface="Proxima Nova Medium"/>
                <a:cs typeface="Proxima Nova Medium"/>
              </a:defRPr>
            </a:lvl1pPr>
          </a:lstStyle>
          <a:p>
            <a:r>
              <a:rPr lang="en-US" dirty="0" smtClean="0"/>
              <a:t>Questions?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874" y="2417586"/>
            <a:ext cx="991727" cy="991727"/>
          </a:xfrm>
          <a:prstGeom prst="rect">
            <a:avLst/>
          </a:prstGeom>
        </p:spPr>
      </p:pic>
      <p:sp>
        <p:nvSpPr>
          <p:cNvPr id="22" name="Rectangle 21"/>
          <p:cNvSpPr/>
          <p:nvPr userDrawn="1"/>
        </p:nvSpPr>
        <p:spPr>
          <a:xfrm>
            <a:off x="3657600" y="515"/>
            <a:ext cx="1828800" cy="53460"/>
          </a:xfrm>
          <a:prstGeom prst="rect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6B74A"/>
              </a:solidFill>
              <a:effectLst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828800" y="-257"/>
            <a:ext cx="1828800" cy="53460"/>
          </a:xfrm>
          <a:prstGeom prst="rect">
            <a:avLst/>
          </a:prstGeom>
          <a:solidFill>
            <a:srgbClr val="00A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0F1EF"/>
              </a:solidFill>
              <a:effectLst/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0" y="-257"/>
            <a:ext cx="1828800" cy="53460"/>
          </a:xfrm>
          <a:prstGeom prst="rect">
            <a:avLst/>
          </a:prstGeom>
          <a:solidFill>
            <a:srgbClr val="66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F1EF"/>
              </a:solidFill>
              <a:effectLst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7315200" y="-5834"/>
            <a:ext cx="1828800" cy="55598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5486400" y="-4827"/>
            <a:ext cx="1828800" cy="55598"/>
          </a:xfrm>
          <a:prstGeom prst="rect">
            <a:avLst/>
          </a:prstGeom>
          <a:solidFill>
            <a:srgbClr val="F07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3B9AD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54825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5CF73-2D3B-BF42-BDD4-F1C1C2D402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16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2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  <p:sldLayoutId id="2147484026" r:id="rId21"/>
    <p:sldLayoutId id="2147484027" r:id="rId22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oxima Nova Medium"/>
          <a:ea typeface="+mj-ea"/>
          <a:cs typeface="Proxima Nova Medium"/>
        </a:defRPr>
      </a:lvl1pPr>
    </p:titleStyle>
    <p:bodyStyle>
      <a:lvl1pPr marL="342900" indent="-411480" algn="l" defTabSz="457200" rtl="0" eaLnBrk="1" latinLnBrk="0" hangingPunct="1">
        <a:spcBef>
          <a:spcPct val="20000"/>
        </a:spcBef>
        <a:buSzPct val="110000"/>
        <a:buFontTx/>
        <a:buBlip>
          <a:blip r:embed="rId24"/>
        </a:buBlip>
        <a:defRPr sz="3200" b="0" i="0" kern="1200">
          <a:solidFill>
            <a:schemeClr val="tx1"/>
          </a:solidFill>
          <a:latin typeface="Proxima Nova Regular"/>
          <a:ea typeface="+mn-ea"/>
          <a:cs typeface="Proxima Nova Regular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90000"/>
        <a:buFont typeface="Wingdings" charset="2"/>
        <a:buChar char="§"/>
        <a:defRPr sz="2800" b="0" i="0" kern="1200">
          <a:solidFill>
            <a:schemeClr val="tx1"/>
          </a:solidFill>
          <a:latin typeface="Proxima Nova Regular"/>
          <a:ea typeface="+mn-ea"/>
          <a:cs typeface="Proxima Nova Regular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Avenir Book"/>
          <a:ea typeface="+mn-ea"/>
          <a:cs typeface="Avenir Book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Avenir Book"/>
          <a:ea typeface="+mn-ea"/>
          <a:cs typeface="Avenir Book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Avenir Book"/>
          <a:ea typeface="+mn-ea"/>
          <a:cs typeface="Avenir Book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hyperlink" Target="https://communicatehealth.box.com/s/n7d6sv0kiciay6yc0fblk0pgadrrh01f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catehealth.box.com/s/oeyjzvhf0idqpxapcaozitkfct6wns13" TargetMode="External"/><Relationship Id="rId4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https://calculator.s3.amazonaws.com/index.html#r=PDT&amp;key=calc-CBCB3E18-0924-4FC7-9EB6-C10893B7EA6B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1"/>
          <p:cNvSpPr>
            <a:spLocks noGrp="1"/>
          </p:cNvSpPr>
          <p:nvPr>
            <p:ph type="title"/>
          </p:nvPr>
        </p:nvSpPr>
        <p:spPr>
          <a:xfrm>
            <a:off x="423329" y="1544229"/>
            <a:ext cx="8229600" cy="700257"/>
          </a:xfrm>
          <a:noFill/>
        </p:spPr>
        <p:txBody>
          <a:bodyPr>
            <a:normAutofit fontScale="90000"/>
          </a:bodyPr>
          <a:lstStyle/>
          <a:p>
            <a:pPr marL="0" indent="273050" eaLnBrk="1" hangingPunct="1"/>
            <a:r>
              <a:rPr lang="en-US" noProof="0" dirty="0" smtClean="0">
                <a:solidFill>
                  <a:srgbClr val="575655"/>
                </a:solidFill>
              </a:rPr>
              <a:t/>
            </a:r>
            <a:br>
              <a:rPr lang="en-US" noProof="0" dirty="0" smtClean="0">
                <a:solidFill>
                  <a:srgbClr val="575655"/>
                </a:solidFill>
              </a:rPr>
            </a:br>
            <a:endParaRPr lang="en-US" noProof="0" dirty="0" smtClean="0">
              <a:solidFill>
                <a:srgbClr val="575655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1"/>
          </p:nvPr>
        </p:nvSpPr>
        <p:spPr>
          <a:xfrm>
            <a:off x="1284218" y="3323032"/>
            <a:ext cx="7078662" cy="2589212"/>
          </a:xfrm>
        </p:spPr>
        <p:txBody>
          <a:bodyPr rtlCol="0">
            <a:normAutofit/>
          </a:bodyPr>
          <a:lstStyle/>
          <a:p>
            <a:pPr marL="22860" indent="0">
              <a:buNone/>
              <a:defRPr/>
            </a:pPr>
            <a:endParaRPr lang="en-US" sz="1400" b="1" noProof="0" dirty="0" smtClean="0">
              <a:solidFill>
                <a:schemeClr val="accent1"/>
              </a:solidFill>
            </a:endParaRPr>
          </a:p>
          <a:p>
            <a:pPr marL="22860" indent="0">
              <a:buNone/>
              <a:defRPr/>
            </a:pPr>
            <a:r>
              <a:rPr lang="en-US" sz="1400" b="1" noProof="0" dirty="0" smtClean="0">
                <a:solidFill>
                  <a:schemeClr val="accent1"/>
                </a:solidFill>
              </a:rPr>
              <a:t>Presented </a:t>
            </a:r>
            <a:r>
              <a:rPr lang="en-US" sz="1400" b="1" noProof="0" dirty="0">
                <a:solidFill>
                  <a:schemeClr val="accent1"/>
                </a:solidFill>
              </a:rPr>
              <a:t>to: </a:t>
            </a:r>
            <a:r>
              <a:rPr lang="en-US" sz="1400" b="1" i="1" noProof="0" dirty="0">
                <a:solidFill>
                  <a:schemeClr val="accent1"/>
                </a:solidFill>
              </a:rPr>
              <a:t/>
            </a:r>
            <a:br>
              <a:rPr lang="en-US" sz="1400" b="1" i="1" noProof="0" dirty="0">
                <a:solidFill>
                  <a:schemeClr val="accent1"/>
                </a:solidFill>
              </a:rPr>
            </a:br>
            <a:r>
              <a:rPr lang="en-US" sz="1400" noProof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ODPHP</a:t>
            </a:r>
            <a:endParaRPr lang="en-US" sz="14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defRPr/>
            </a:pPr>
            <a:endParaRPr lang="en-US" sz="14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" indent="0">
              <a:buNone/>
              <a:defRPr/>
            </a:pPr>
            <a:r>
              <a:rPr lang="en-US" sz="1400" b="1" noProof="0" dirty="0">
                <a:solidFill>
                  <a:schemeClr val="accent1"/>
                </a:solidFill>
              </a:rPr>
              <a:t>Submitted by:</a:t>
            </a:r>
            <a:br>
              <a:rPr lang="en-US" sz="1400" b="1" noProof="0" dirty="0">
                <a:solidFill>
                  <a:schemeClr val="accent1"/>
                </a:solidFill>
              </a:rPr>
            </a:br>
            <a:r>
              <a:rPr lang="en-US" sz="1400" noProof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CommunicateHealth</a:t>
            </a:r>
            <a:r>
              <a:rPr lang="en-US" sz="14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Inc</a:t>
            </a:r>
            <a:r>
              <a:rPr lang="en-US" sz="1400" noProof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sz="14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" indent="0">
              <a:buNone/>
              <a:defRPr/>
            </a:pPr>
            <a:endParaRPr lang="en-US" sz="14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" indent="0">
              <a:buNone/>
              <a:defRPr/>
            </a:pPr>
            <a:r>
              <a:rPr lang="en-US" sz="1400" noProof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July 11, 2017</a:t>
            </a:r>
            <a:endParaRPr lang="en-US" sz="14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78990" y="1553789"/>
            <a:ext cx="7653867" cy="798513"/>
          </a:xfrm>
        </p:spPr>
        <p:txBody>
          <a:bodyPr/>
          <a:lstStyle/>
          <a:p>
            <a:r>
              <a:rPr lang="en-US" sz="4200" noProof="0" dirty="0" smtClean="0">
                <a:latin typeface="Proxima Nova Medium"/>
                <a:cs typeface="Proxima Nova Medium"/>
              </a:rPr>
              <a:t>ODPHP Network Architecture</a:t>
            </a:r>
          </a:p>
          <a:p>
            <a:r>
              <a:rPr lang="en-US" sz="2700" noProof="0" dirty="0" smtClean="0"/>
              <a:t>ODPHP Hosting Update</a:t>
            </a:r>
            <a:endParaRPr lang="en-US" sz="2700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Background and Introduction</a:t>
            </a:r>
          </a:p>
        </p:txBody>
      </p:sp>
    </p:spTree>
    <p:extLst>
      <p:ext uri="{BB962C8B-B14F-4D97-AF65-F5344CB8AC3E}">
        <p14:creationId xmlns:p14="http://schemas.microsoft.com/office/powerpoint/2010/main" val="248750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Background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15925" indent="-415925"/>
            <a:r>
              <a:rPr lang="en-US" noProof="0" dirty="0" smtClean="0"/>
              <a:t>ODPHP’s hosting agreement with Triple-I will expire in October 2017</a:t>
            </a:r>
          </a:p>
          <a:p>
            <a:pPr marL="415925" indent="-415925"/>
            <a:r>
              <a:rPr lang="en-US" noProof="0" dirty="0" smtClean="0"/>
              <a:t>Triple-I’s contract with HHS is expiring, so a transition of the HHS hosting provider is expected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45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Introduction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noProof="0" dirty="0" smtClean="0"/>
              <a:t>ODPHP’s servers can run on any of the following types of servers:</a:t>
            </a:r>
          </a:p>
          <a:p>
            <a:pPr marL="0" indent="0">
              <a:buNone/>
            </a:pPr>
            <a:endParaRPr lang="en-US" noProof="0" dirty="0" smtClean="0"/>
          </a:p>
          <a:p>
            <a:pPr marL="694944" indent="-415925"/>
            <a:r>
              <a:rPr lang="en-US" noProof="0" dirty="0" smtClean="0"/>
              <a:t>On-premise – Physical servers at a datacenter (the current ODPHP environment)</a:t>
            </a:r>
          </a:p>
          <a:p>
            <a:pPr marL="694944" indent="-415925"/>
            <a:r>
              <a:rPr lang="en-US" noProof="0" dirty="0" smtClean="0"/>
              <a:t>Cloud-based – A series of interconnected servers</a:t>
            </a:r>
          </a:p>
          <a:p>
            <a:pPr marL="694944" indent="-415925"/>
            <a:r>
              <a:rPr lang="en-US" noProof="0" dirty="0" smtClean="0"/>
              <a:t>Managed – Platform-specific, cloud-based hosting, which is finely tuned for the needs of the platform</a:t>
            </a:r>
            <a:endParaRPr lang="en-US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60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Benefits of Current Hosting 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indent="-333375"/>
            <a:r>
              <a:rPr lang="en-US" noProof="0" dirty="0"/>
              <a:t>HHS security</a:t>
            </a:r>
          </a:p>
          <a:p>
            <a:pPr indent="-333375"/>
            <a:r>
              <a:rPr lang="en-US" noProof="0" dirty="0"/>
              <a:t>HHS patch </a:t>
            </a:r>
            <a:r>
              <a:rPr lang="en-US" noProof="0" dirty="0" smtClean="0"/>
              <a:t>schedule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57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Drawbacks of Current Hosting</a:t>
            </a:r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indent="-333375"/>
            <a:r>
              <a:rPr lang="en-US" noProof="0" dirty="0" smtClean="0"/>
              <a:t>Not scalable</a:t>
            </a:r>
          </a:p>
          <a:p>
            <a:pPr indent="-333375"/>
            <a:r>
              <a:rPr lang="en-US" noProof="0" dirty="0" smtClean="0"/>
              <a:t>Stability issues</a:t>
            </a:r>
          </a:p>
          <a:p>
            <a:pPr indent="-333375"/>
            <a:r>
              <a:rPr lang="en-US" noProof="0" dirty="0" smtClean="0"/>
              <a:t>Responsiveness/Ownership issues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55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Infrastructure Requirements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33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3240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noProof="0" dirty="0" smtClean="0"/>
              <a:t>ODPHP’s infrastructure must be:</a:t>
            </a:r>
            <a:endParaRPr lang="en-US" sz="2800" noProof="0" dirty="0">
              <a:solidFill>
                <a:srgbClr val="000000"/>
              </a:solidFill>
            </a:endParaRPr>
          </a:p>
          <a:p>
            <a:pPr marL="690563"/>
            <a:r>
              <a:rPr lang="en-US" sz="2800" noProof="0" dirty="0"/>
              <a:t>S</a:t>
            </a:r>
            <a:r>
              <a:rPr lang="en-US" sz="2800" noProof="0" dirty="0" smtClean="0"/>
              <a:t>ecure</a:t>
            </a:r>
            <a:endParaRPr lang="en-US" sz="2800" noProof="0" dirty="0"/>
          </a:p>
          <a:p>
            <a:pPr marL="690563"/>
            <a:r>
              <a:rPr lang="en-US" sz="2800" noProof="0" dirty="0" smtClean="0"/>
              <a:t>Staffed to provide timely </a:t>
            </a:r>
            <a:r>
              <a:rPr lang="en-US" sz="2800" noProof="0" dirty="0"/>
              <a:t>p</a:t>
            </a:r>
            <a:r>
              <a:rPr lang="en-US" sz="2800" noProof="0" dirty="0" smtClean="0"/>
              <a:t>atching</a:t>
            </a:r>
          </a:p>
          <a:p>
            <a:pPr marL="690563"/>
            <a:r>
              <a:rPr lang="en-US" sz="2800" noProof="0" dirty="0" smtClean="0"/>
              <a:t>Highly </a:t>
            </a:r>
            <a:r>
              <a:rPr lang="en-US" sz="2800" noProof="0" dirty="0"/>
              <a:t>a</a:t>
            </a:r>
            <a:r>
              <a:rPr lang="en-US" sz="2800" noProof="0" dirty="0" smtClean="0"/>
              <a:t>vailable</a:t>
            </a:r>
          </a:p>
          <a:p>
            <a:pPr marL="690563"/>
            <a:r>
              <a:rPr lang="en-US" sz="2800" noProof="0" dirty="0" smtClean="0"/>
              <a:t>Highly performant (speedy to return data)</a:t>
            </a:r>
            <a:endParaRPr lang="en-US" sz="2800" noProof="0" dirty="0"/>
          </a:p>
          <a:p>
            <a:pPr lvl="1"/>
            <a:endParaRPr lang="en-US" sz="2000" noProof="0" dirty="0"/>
          </a:p>
          <a:p>
            <a:pPr lvl="1"/>
            <a:endParaRPr lang="en-US" sz="2000" noProof="0" dirty="0"/>
          </a:p>
          <a:p>
            <a:endParaRPr lang="en-US" sz="2000" noProof="0" dirty="0"/>
          </a:p>
          <a:p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Infrastructure Requirements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15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Current Network Diagram</a:t>
            </a:r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1" t="10986" r="12787" b="3652"/>
          <a:stretch/>
        </p:blipFill>
        <p:spPr>
          <a:xfrm>
            <a:off x="950708" y="1368010"/>
            <a:ext cx="6970917" cy="510530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93850"/>
            <a:ext cx="9143999" cy="51740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800" dirty="0">
                <a:hlinkClick r:id="rId4"/>
              </a:rPr>
              <a:t>https://</a:t>
            </a:r>
            <a:r>
              <a:rPr lang="en-US" sz="1800" dirty="0" err="1">
                <a:hlinkClick r:id="rId4"/>
              </a:rPr>
              <a:t>communicatehealth.box.com</a:t>
            </a:r>
            <a:r>
              <a:rPr lang="en-US" sz="1800" dirty="0">
                <a:hlinkClick r:id="rId4"/>
              </a:rPr>
              <a:t>/s/n7d6sv0kiciay6yc0fblk0pgadrrh01f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02218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Proposed Network Diagram</a:t>
            </a:r>
            <a:endParaRPr lang="en-US" noProof="0" dirty="0"/>
          </a:p>
        </p:txBody>
      </p:sp>
      <p:pic>
        <p:nvPicPr>
          <p:cNvPr id="17" name="Picture 16">
            <a:hlinkClick r:id="rId3"/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4"/>
          <a:stretch/>
        </p:blipFill>
        <p:spPr>
          <a:xfrm>
            <a:off x="2959439" y="1105786"/>
            <a:ext cx="3176650" cy="572201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783217"/>
            <a:ext cx="9143999" cy="51740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n-US" sz="1800" dirty="0" smtClean="0">
                <a:hlinkClick r:id="rId3"/>
              </a:rPr>
              <a:t>https://communicatehealth.box.com/s/oeyjzvhf0idqpxapcaozitkfct6wns13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88742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4550111"/>
          </a:xfrm>
        </p:spPr>
        <p:txBody>
          <a:bodyPr>
            <a:normAutofit fontScale="70000" lnSpcReduction="20000"/>
          </a:bodyPr>
          <a:lstStyle/>
          <a:p>
            <a:r>
              <a:rPr lang="en-US" noProof="0" dirty="0"/>
              <a:t>Pilot </a:t>
            </a:r>
            <a:r>
              <a:rPr lang="en-US" noProof="0" dirty="0" smtClean="0"/>
              <a:t>Light</a:t>
            </a:r>
          </a:p>
          <a:p>
            <a:pPr lvl="1"/>
            <a:r>
              <a:rPr lang="en-US" noProof="0" dirty="0" smtClean="0"/>
              <a:t>At </a:t>
            </a:r>
            <a:r>
              <a:rPr lang="en-US" noProof="0" dirty="0"/>
              <a:t>the DNS level, </a:t>
            </a:r>
            <a:r>
              <a:rPr lang="en-US" noProof="0" dirty="0" smtClean="0"/>
              <a:t>a </a:t>
            </a:r>
            <a:r>
              <a:rPr lang="en-US" noProof="0" dirty="0"/>
              <a:t>health </a:t>
            </a:r>
            <a:r>
              <a:rPr lang="en-US" noProof="0" dirty="0" smtClean="0"/>
              <a:t>check is performed </a:t>
            </a:r>
            <a:r>
              <a:rPr lang="en-US" noProof="0" dirty="0"/>
              <a:t>on the application load balancer. Failure of the health </a:t>
            </a:r>
            <a:r>
              <a:rPr lang="en-US" noProof="0" dirty="0" smtClean="0"/>
              <a:t>checks will redirect </a:t>
            </a:r>
            <a:r>
              <a:rPr lang="en-US" noProof="0" dirty="0"/>
              <a:t>traffic to a highly available static site on an independent network</a:t>
            </a:r>
            <a:r>
              <a:rPr lang="en-US" noProof="0" dirty="0" smtClean="0"/>
              <a:t>.</a:t>
            </a:r>
          </a:p>
          <a:p>
            <a:r>
              <a:rPr lang="en-US" noProof="0" dirty="0" smtClean="0"/>
              <a:t>Application</a:t>
            </a:r>
          </a:p>
          <a:p>
            <a:pPr lvl="1"/>
            <a:r>
              <a:rPr lang="en-US" noProof="0" dirty="0" smtClean="0"/>
              <a:t>To </a:t>
            </a:r>
            <a:r>
              <a:rPr lang="en-US" noProof="0" dirty="0"/>
              <a:t>be highly available, the application </a:t>
            </a:r>
            <a:r>
              <a:rPr lang="en-US" noProof="0" dirty="0" smtClean="0"/>
              <a:t>will be </a:t>
            </a:r>
            <a:r>
              <a:rPr lang="en-US" noProof="0" dirty="0"/>
              <a:t>auto-balanced between application servers in separate locations on separate networks</a:t>
            </a:r>
            <a:r>
              <a:rPr lang="en-US" noProof="0" dirty="0" smtClean="0"/>
              <a:t>.</a:t>
            </a:r>
          </a:p>
          <a:p>
            <a:pPr lvl="1"/>
            <a:r>
              <a:rPr lang="en-US" noProof="0" dirty="0" smtClean="0"/>
              <a:t>To </a:t>
            </a:r>
            <a:r>
              <a:rPr lang="en-US" noProof="0" dirty="0"/>
              <a:t>be highly performant, the application servers </a:t>
            </a:r>
            <a:r>
              <a:rPr lang="en-US" noProof="0" dirty="0" smtClean="0"/>
              <a:t>will either </a:t>
            </a:r>
            <a:r>
              <a:rPr lang="en-US" noProof="0" dirty="0" err="1"/>
              <a:t>autoscale</a:t>
            </a:r>
            <a:r>
              <a:rPr lang="en-US" noProof="0" dirty="0"/>
              <a:t> or be </a:t>
            </a:r>
            <a:r>
              <a:rPr lang="en-US" noProof="0" dirty="0" smtClean="0"/>
              <a:t>provisioned </a:t>
            </a:r>
            <a:r>
              <a:rPr lang="en-US" noProof="0" dirty="0"/>
              <a:t>to handle the application at peak traffic</a:t>
            </a:r>
            <a:r>
              <a:rPr lang="en-US" noProof="0" dirty="0" smtClean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Benefits of Proposed Network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45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4550111"/>
          </a:xfrm>
        </p:spPr>
        <p:txBody>
          <a:bodyPr>
            <a:normAutofit fontScale="85000" lnSpcReduction="20000"/>
          </a:bodyPr>
          <a:lstStyle/>
          <a:p>
            <a:r>
              <a:rPr lang="en-US" noProof="0" dirty="0" smtClean="0"/>
              <a:t>Database</a:t>
            </a:r>
          </a:p>
          <a:p>
            <a:pPr lvl="1"/>
            <a:r>
              <a:rPr lang="en-US" noProof="0" dirty="0" smtClean="0"/>
              <a:t>Read </a:t>
            </a:r>
            <a:r>
              <a:rPr lang="en-US" noProof="0" dirty="0"/>
              <a:t>replicas </a:t>
            </a:r>
            <a:r>
              <a:rPr lang="en-US" noProof="0" dirty="0" smtClean="0"/>
              <a:t>will be either automatically </a:t>
            </a:r>
            <a:r>
              <a:rPr lang="en-US" noProof="0" dirty="0"/>
              <a:t>instantiated or pre-provisioned to satisfy the needs of the application at peak traffic</a:t>
            </a:r>
            <a:r>
              <a:rPr lang="en-US" noProof="0" dirty="0" smtClean="0"/>
              <a:t>.</a:t>
            </a:r>
          </a:p>
          <a:p>
            <a:r>
              <a:rPr lang="en-US" noProof="0" dirty="0" smtClean="0"/>
              <a:t>Content Delivery Network (CDN)</a:t>
            </a:r>
            <a:endParaRPr lang="en-US" noProof="0" dirty="0" smtClean="0"/>
          </a:p>
          <a:p>
            <a:pPr lvl="1"/>
            <a:r>
              <a:rPr lang="en-US" noProof="0" dirty="0"/>
              <a:t>The application’s static assets (images, videos, pdfs, etc.) </a:t>
            </a:r>
            <a:r>
              <a:rPr lang="en-US" noProof="0" dirty="0" smtClean="0"/>
              <a:t>will </a:t>
            </a:r>
            <a:r>
              <a:rPr lang="en-US" noProof="0" dirty="0"/>
              <a:t>be hosted separately from the application, preferably on a highly available </a:t>
            </a:r>
            <a:r>
              <a:rPr lang="en-US" noProof="0" dirty="0" smtClean="0"/>
              <a:t>CDN to ensure fast load times and proper shared assets between the 2 application servers</a:t>
            </a:r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Benefits of Proposed Network (cont.)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18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Options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7246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Amazon Web Services (AWS)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smtClean="0"/>
              <a:t>1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7839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Benefits of AWS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indent="-333375"/>
            <a:r>
              <a:rPr lang="en-US" noProof="0" dirty="0" smtClean="0"/>
              <a:t>Highly available</a:t>
            </a:r>
          </a:p>
          <a:p>
            <a:pPr indent="-333375"/>
            <a:r>
              <a:rPr lang="en-US" noProof="0" dirty="0" smtClean="0"/>
              <a:t>Highly performant</a:t>
            </a:r>
          </a:p>
          <a:p>
            <a:pPr indent="-333375"/>
            <a:r>
              <a:rPr lang="en-US" noProof="0" dirty="0" smtClean="0"/>
              <a:t>Highly scalable – able to grow with ODPHP’s needs as demand increases</a:t>
            </a:r>
          </a:p>
          <a:p>
            <a:pPr indent="-333375"/>
            <a:r>
              <a:rPr lang="en-US" noProof="0" dirty="0" smtClean="0"/>
              <a:t>Secure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472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Drawbacks of AWS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indent="-333375"/>
            <a:r>
              <a:rPr lang="en-US" noProof="0" dirty="0" smtClean="0"/>
              <a:t>No longer receiving HHS Security and Patching support</a:t>
            </a:r>
          </a:p>
          <a:p>
            <a:pPr lvl="1"/>
            <a:r>
              <a:rPr lang="en-US" noProof="0" dirty="0" smtClean="0"/>
              <a:t>Patching would be performed </a:t>
            </a:r>
            <a:r>
              <a:rPr lang="en-US" noProof="0" dirty="0" smtClean="0"/>
              <a:t>exclusively by </a:t>
            </a:r>
            <a:r>
              <a:rPr lang="en-US" noProof="0" dirty="0" err="1" smtClean="0"/>
              <a:t>Dataprise</a:t>
            </a:r>
            <a:endParaRPr lang="en-US" noProof="0" dirty="0" smtClean="0"/>
          </a:p>
          <a:p>
            <a:pPr indent="-333375"/>
            <a:r>
              <a:rPr lang="en-US" noProof="0" dirty="0" smtClean="0"/>
              <a:t>Additional paperwork required during the transition, including ATO paperwork</a:t>
            </a:r>
          </a:p>
          <a:p>
            <a:pPr marL="342900" lvl="1" indent="-333375"/>
            <a:endParaRPr lang="en-US" noProof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751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Estimated Cost of AWS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indent="-333375"/>
            <a:r>
              <a:rPr lang="en-US" noProof="0" dirty="0" smtClean="0"/>
              <a:t>Approximately $7,800/month</a:t>
            </a:r>
          </a:p>
          <a:p>
            <a:pPr lvl="1"/>
            <a:r>
              <a:rPr lang="en-US" noProof="0" dirty="0" smtClean="0"/>
              <a:t>Estimated based on current usage</a:t>
            </a:r>
          </a:p>
          <a:p>
            <a:pPr lvl="1"/>
            <a:r>
              <a:rPr lang="en-US" dirty="0" smtClean="0"/>
              <a:t>Monthly charges are based on usage, so actual monthly bills will vary</a:t>
            </a:r>
            <a:endParaRPr lang="en-US" noProof="0" dirty="0" smtClean="0"/>
          </a:p>
          <a:p>
            <a:pPr indent="-333375"/>
            <a:r>
              <a:rPr lang="en-US" noProof="0" dirty="0" smtClean="0">
                <a:hlinkClick r:id="rId2"/>
              </a:rPr>
              <a:t>Amazon cost calculator link</a:t>
            </a:r>
            <a:endParaRPr lang="en-US" noProof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87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Managed Hosting</a:t>
            </a:r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smtClean="0"/>
              <a:t>2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3312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Benefits of Managed </a:t>
            </a:r>
            <a:r>
              <a:rPr lang="en-US" noProof="0" dirty="0"/>
              <a:t>Hosting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indent="-333375"/>
            <a:r>
              <a:rPr lang="en-US" noProof="0" dirty="0" smtClean="0"/>
              <a:t>Specifically dedicated to Drupal</a:t>
            </a:r>
          </a:p>
          <a:p>
            <a:pPr lvl="1"/>
            <a:r>
              <a:rPr lang="en-US" noProof="0" dirty="0" smtClean="0"/>
              <a:t>Hardware and software are specifically tuned to run Drupal websites in the most efficient manner</a:t>
            </a:r>
          </a:p>
          <a:p>
            <a:pPr indent="-333375"/>
            <a:r>
              <a:rPr lang="en-US" noProof="0" dirty="0" smtClean="0"/>
              <a:t>Management and patching of the hosting environment would be handled by the vendor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1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Drawbacks of Managed </a:t>
            </a:r>
            <a:r>
              <a:rPr lang="en-US" noProof="0" dirty="0"/>
              <a:t>Hosting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96259" y="1606140"/>
            <a:ext cx="8229600" cy="4047408"/>
          </a:xfrm>
        </p:spPr>
        <p:txBody>
          <a:bodyPr>
            <a:normAutofit/>
          </a:bodyPr>
          <a:lstStyle/>
          <a:p>
            <a:pPr indent="-333375"/>
            <a:r>
              <a:rPr lang="en-US" noProof="0" dirty="0" smtClean="0"/>
              <a:t>Locked into the host’s specific hardware and software configuration</a:t>
            </a:r>
          </a:p>
          <a:p>
            <a:pPr indent="-333375"/>
            <a:r>
              <a:rPr lang="en-US" noProof="0" dirty="0" smtClean="0"/>
              <a:t>Only available to run a Drupal website, so we would need other hosting for the Windows </a:t>
            </a:r>
            <a:r>
              <a:rPr lang="en-US" noProof="0" dirty="0" smtClean="0"/>
              <a:t>sites</a:t>
            </a:r>
          </a:p>
          <a:p>
            <a:pPr indent="-333375"/>
            <a:r>
              <a:rPr lang="en-US" noProof="0" dirty="0"/>
              <a:t>Additional paperwork required during the transition, including ATO paperwork</a:t>
            </a:r>
          </a:p>
          <a:p>
            <a:endParaRPr lang="en-US" noProof="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20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Providers and Estimated Cost 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indent="-333375"/>
            <a:r>
              <a:rPr lang="en-US" noProof="0" dirty="0" smtClean="0"/>
              <a:t>Providers</a:t>
            </a:r>
          </a:p>
          <a:p>
            <a:pPr lvl="1"/>
            <a:r>
              <a:rPr lang="en-US" noProof="0" dirty="0" smtClean="0"/>
              <a:t>Pantheon</a:t>
            </a:r>
          </a:p>
          <a:p>
            <a:pPr lvl="1"/>
            <a:r>
              <a:rPr lang="en-US" noProof="0" dirty="0" err="1" smtClean="0"/>
              <a:t>Acquia</a:t>
            </a:r>
            <a:endParaRPr lang="en-US" noProof="0" dirty="0"/>
          </a:p>
          <a:p>
            <a:pPr lvl="1"/>
            <a:endParaRPr lang="en-US" noProof="0" dirty="0" smtClean="0"/>
          </a:p>
          <a:p>
            <a:pPr indent="-333375"/>
            <a:r>
              <a:rPr lang="en-US" noProof="0" dirty="0" smtClean="0"/>
              <a:t>Cost</a:t>
            </a:r>
          </a:p>
          <a:p>
            <a:pPr lvl="1"/>
            <a:r>
              <a:rPr lang="en-US" noProof="0" dirty="0" smtClean="0"/>
              <a:t>Approximately $1,500/month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610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HHS Hosting Provider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smtClean="0"/>
              <a:t>3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20104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Benefits of HHS </a:t>
            </a:r>
            <a:r>
              <a:rPr lang="en-US" noProof="0" dirty="0"/>
              <a:t>Provider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indent="-333375"/>
            <a:r>
              <a:rPr lang="en-US" noProof="0" dirty="0" smtClean="0"/>
              <a:t>HHS security</a:t>
            </a:r>
          </a:p>
          <a:p>
            <a:pPr indent="-333375"/>
            <a:r>
              <a:rPr lang="en-US" noProof="0" dirty="0" smtClean="0"/>
              <a:t>HHS patch schedule</a:t>
            </a:r>
          </a:p>
          <a:p>
            <a:pPr indent="-333375"/>
            <a:r>
              <a:rPr lang="en-US" noProof="0" dirty="0" smtClean="0"/>
              <a:t>Fixed pricing</a:t>
            </a:r>
          </a:p>
          <a:p>
            <a:pPr lvl="1"/>
            <a:endParaRPr lang="en-US" noProof="0" dirty="0" smtClean="0"/>
          </a:p>
          <a:p>
            <a:endParaRPr lang="en-US" noProof="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12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Benefits/Drawbacks/Costs of </a:t>
            </a:r>
            <a:r>
              <a:rPr lang="en-US" noProof="0" dirty="0" smtClean="0"/>
              <a:t>HHS Provider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indent="-333375"/>
            <a:r>
              <a:rPr lang="en-US" noProof="0" dirty="0" smtClean="0"/>
              <a:t>TBD based on HHS contracting selection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095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Summary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6886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Next Steps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0000" lnSpcReduction="20000"/>
          </a:bodyPr>
          <a:lstStyle/>
          <a:p>
            <a:pPr marL="350838" indent="-341313"/>
            <a:r>
              <a:rPr lang="en-US" sz="3400" noProof="0" dirty="0" smtClean="0"/>
              <a:t>CH recommends that ODPHP weigh the pros and cons of the selected HHS provider against the other 2 options outlined here</a:t>
            </a:r>
          </a:p>
          <a:p>
            <a:pPr marL="350838" indent="-341313"/>
            <a:r>
              <a:rPr lang="en-US" sz="3400" noProof="0" dirty="0" smtClean="0"/>
              <a:t>In the meantime, ODPHP can consider the challenges of a variable price contract (for scalable service) versus a fixed price contract (paying for performance at peak potential traffic)</a:t>
            </a:r>
          </a:p>
          <a:p>
            <a:pPr marL="350838" indent="-341313"/>
            <a:r>
              <a:rPr lang="en-US" sz="3400" noProof="0" dirty="0" smtClean="0"/>
              <a:t>ODPHP and CH to discuss any additional research or information that the CH team can provide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92A510-2075-0442-83F8-377FBF303E28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0065"/>
      </p:ext>
    </p:extLst>
  </p:cSld>
  <p:clrMapOvr>
    <a:masterClrMapping/>
  </p:clrMapOvr>
</p:sld>
</file>

<file path=ppt/theme/theme1.xml><?xml version="1.0" encoding="utf-8"?>
<a:theme xmlns:a="http://schemas.openxmlformats.org/drawingml/2006/main" name="ch_designtemplate_0506[1]">
  <a:themeElements>
    <a:clrScheme name="CH-Template-AP">
      <a:dk1>
        <a:sysClr val="windowText" lastClr="000000"/>
      </a:dk1>
      <a:lt1>
        <a:sysClr val="window" lastClr="FFFFFF"/>
      </a:lt1>
      <a:dk2>
        <a:srgbClr val="575655"/>
      </a:dk2>
      <a:lt2>
        <a:srgbClr val="D9D9D9"/>
      </a:lt2>
      <a:accent1>
        <a:srgbClr val="6CB33F"/>
      </a:accent1>
      <a:accent2>
        <a:srgbClr val="00AE9E"/>
      </a:accent2>
      <a:accent3>
        <a:srgbClr val="66416B"/>
      </a:accent3>
      <a:accent4>
        <a:srgbClr val="F07622"/>
      </a:accent4>
      <a:accent5>
        <a:srgbClr val="EC537A"/>
      </a:accent5>
      <a:accent6>
        <a:srgbClr val="FFC42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12147</TotalTime>
  <Words>607</Words>
  <Application>Microsoft Macintosh PowerPoint</Application>
  <PresentationFormat>On-screen Show (4:3)</PresentationFormat>
  <Paragraphs>144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Avenir Book</vt:lpstr>
      <vt:lpstr>Calibri</vt:lpstr>
      <vt:lpstr>ＭＳ Ｐゴシック</vt:lpstr>
      <vt:lpstr>Proxima Nova Bold</vt:lpstr>
      <vt:lpstr>Proxima Nova Medium</vt:lpstr>
      <vt:lpstr>Proxima Nova Regular</vt:lpstr>
      <vt:lpstr>Wingdings</vt:lpstr>
      <vt:lpstr>Arial</vt:lpstr>
      <vt:lpstr>ch_designtemplate_0506[1]</vt:lpstr>
      <vt:lpstr> </vt:lpstr>
      <vt:lpstr>Background and Introduction</vt:lpstr>
      <vt:lpstr>Background</vt:lpstr>
      <vt:lpstr>Introduction</vt:lpstr>
      <vt:lpstr>Benefits of Current Hosting </vt:lpstr>
      <vt:lpstr>Drawbacks of Current Hosting</vt:lpstr>
      <vt:lpstr>Infrastructure Requirements</vt:lpstr>
      <vt:lpstr>Infrastructure Requirements</vt:lpstr>
      <vt:lpstr>Current Network Diagram</vt:lpstr>
      <vt:lpstr>Proposed Network Diagram</vt:lpstr>
      <vt:lpstr>Benefits of Proposed Network</vt:lpstr>
      <vt:lpstr>Benefits of Proposed Network (cont.)</vt:lpstr>
      <vt:lpstr>Options</vt:lpstr>
      <vt:lpstr>Amazon Web Services (AWS)</vt:lpstr>
      <vt:lpstr>Benefits of AWS</vt:lpstr>
      <vt:lpstr>Drawbacks of AWS</vt:lpstr>
      <vt:lpstr>Estimated Cost of AWS</vt:lpstr>
      <vt:lpstr>Managed Hosting</vt:lpstr>
      <vt:lpstr>Benefits of Managed Hosting</vt:lpstr>
      <vt:lpstr>Drawbacks of Managed Hosting</vt:lpstr>
      <vt:lpstr>Providers and Estimated Cost </vt:lpstr>
      <vt:lpstr>HHS Hosting Provider</vt:lpstr>
      <vt:lpstr>Benefits of HHS Provider</vt:lpstr>
      <vt:lpstr>Benefits/Drawbacks/Costs of HHS Provider</vt:lpstr>
      <vt:lpstr>Summary</vt:lpstr>
      <vt:lpstr>Next Steps</vt:lpstr>
    </vt:vector>
  </TitlesOfParts>
  <Company>CommunicateHealth</Company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Molly McLeod</dc:creator>
  <cp:lastModifiedBy>Gabby Washburn</cp:lastModifiedBy>
  <cp:revision>410</cp:revision>
  <cp:lastPrinted>2012-05-06T18:36:21Z</cp:lastPrinted>
  <dcterms:created xsi:type="dcterms:W3CDTF">2011-07-20T16:44:37Z</dcterms:created>
  <dcterms:modified xsi:type="dcterms:W3CDTF">2017-07-10T19:25:17Z</dcterms:modified>
</cp:coreProperties>
</file>